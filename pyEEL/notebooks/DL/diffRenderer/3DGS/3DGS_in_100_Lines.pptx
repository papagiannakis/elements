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775948" y="5048982"/>
            <a:ext cx="36576" cy="36576"/>
          </a:xfrm>
          <a:prstGeom prst="ellipse">
            <a:avLst/>
          </a:prstGeom>
          <a:solidFill>
            <a:srgbClr val="00D4FF">
              <a:alpha val="41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60700" y="3138109"/>
            <a:ext cx="36576" cy="36576"/>
          </a:xfrm>
          <a:prstGeom prst="ellipse">
            <a:avLst/>
          </a:prstGeom>
          <a:solidFill>
            <a:srgbClr val="00D4FF">
              <a:alpha val="27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64094" y="576753"/>
            <a:ext cx="36576" cy="36576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8524407" y="3427784"/>
            <a:ext cx="36576" cy="36576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2145279" y="2004183"/>
            <a:ext cx="36576" cy="36576"/>
          </a:xfrm>
          <a:prstGeom prst="ellipse">
            <a:avLst/>
          </a:prstGeom>
          <a:solidFill>
            <a:srgbClr val="00D4FF">
              <a:alpha val="72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2483586" y="3051201"/>
            <a:ext cx="36576" cy="36576"/>
          </a:xfrm>
          <a:prstGeom prst="ellipse">
            <a:avLst/>
          </a:prstGeom>
          <a:solidFill>
            <a:srgbClr val="00D4FF">
              <a:alpha val="53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52434" y="4045379"/>
            <a:ext cx="36576" cy="36576"/>
          </a:xfrm>
          <a:prstGeom prst="ellipse">
            <a:avLst/>
          </a:prstGeom>
          <a:solidFill>
            <a:srgbClr val="00D4FF">
              <a:alpha val="29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56680" y="1003207"/>
            <a:ext cx="36576" cy="36576"/>
          </a:xfrm>
          <a:prstGeom prst="ellipse">
            <a:avLst/>
          </a:prstGeom>
          <a:solidFill>
            <a:srgbClr val="00D4FF">
              <a:alpha val="68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8598482" y="542195"/>
            <a:ext cx="36576" cy="36576"/>
          </a:xfrm>
          <a:prstGeom prst="ellipse">
            <a:avLst/>
          </a:prstGeom>
          <a:solidFill>
            <a:srgbClr val="00D4FF">
              <a:alpha val="65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97019" y="3226290"/>
            <a:ext cx="36576" cy="36576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83337" y="1083316"/>
            <a:ext cx="36576" cy="36576"/>
          </a:xfrm>
          <a:prstGeom prst="ellipse">
            <a:avLst/>
          </a:prstGeom>
          <a:solidFill>
            <a:srgbClr val="00D4FF">
              <a:alpha val="71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371973" y="3870540"/>
            <a:ext cx="36576" cy="36576"/>
          </a:xfrm>
          <a:prstGeom prst="ellipse">
            <a:avLst/>
          </a:prstGeom>
          <a:solidFill>
            <a:srgbClr val="00D4FF">
              <a:alpha val="38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787036" y="4023373"/>
            <a:ext cx="36576" cy="36576"/>
          </a:xfrm>
          <a:prstGeom prst="ellipse">
            <a:avLst/>
          </a:prstGeom>
          <a:solidFill>
            <a:srgbClr val="00D4FF">
              <a:alpha val="24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5839465" y="3432088"/>
            <a:ext cx="36576" cy="36576"/>
          </a:xfrm>
          <a:prstGeom prst="ellipse">
            <a:avLst/>
          </a:prstGeom>
          <a:solidFill>
            <a:srgbClr val="00D4FF">
              <a:alpha val="63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1487063" y="1817266"/>
            <a:ext cx="36576" cy="36576"/>
          </a:xfrm>
          <a:prstGeom prst="ellipse">
            <a:avLst/>
          </a:prstGeom>
          <a:solidFill>
            <a:srgbClr val="00D4FF">
              <a:alpha val="79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66750" y="3823731"/>
            <a:ext cx="36576" cy="36576"/>
          </a:xfrm>
          <a:prstGeom prst="ellipse">
            <a:avLst/>
          </a:prstGeom>
          <a:solidFill>
            <a:srgbClr val="00D4FF">
              <a:alpha val="58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99037" y="3665448"/>
            <a:ext cx="36576" cy="36576"/>
          </a:xfrm>
          <a:prstGeom prst="ellipse">
            <a:avLst/>
          </a:prstGeom>
          <a:solidFill>
            <a:srgbClr val="00D4FF">
              <a:alpha val="58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756535" y="4003580"/>
            <a:ext cx="36576" cy="36576"/>
          </a:xfrm>
          <a:prstGeom prst="ellipse">
            <a:avLst/>
          </a:prstGeom>
          <a:solidFill>
            <a:srgbClr val="00D4FF">
              <a:alpha val="57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118778" y="4538206"/>
            <a:ext cx="36576" cy="36576"/>
          </a:xfrm>
          <a:prstGeom prst="ellipse">
            <a:avLst/>
          </a:prstGeom>
          <a:solidFill>
            <a:srgbClr val="00D4FF">
              <a:alpha val="46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2204501" y="1399878"/>
            <a:ext cx="36576" cy="36576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8453783" y="4266718"/>
            <a:ext cx="36576" cy="36576"/>
          </a:xfrm>
          <a:prstGeom prst="ellipse">
            <a:avLst/>
          </a:prstGeom>
          <a:solidFill>
            <a:srgbClr val="00D4FF">
              <a:alpha val="58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3230298" y="3827033"/>
            <a:ext cx="36576" cy="36576"/>
          </a:xfrm>
          <a:prstGeom prst="ellipse">
            <a:avLst/>
          </a:prstGeom>
          <a:solidFill>
            <a:srgbClr val="00D4FF">
              <a:alpha val="57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1946193" y="3012152"/>
            <a:ext cx="36576" cy="36576"/>
          </a:xfrm>
          <a:prstGeom prst="ellipse">
            <a:avLst/>
          </a:prstGeom>
          <a:solidFill>
            <a:srgbClr val="00D4FF">
              <a:alpha val="44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60117" y="4888857"/>
            <a:ext cx="36576" cy="36576"/>
          </a:xfrm>
          <a:prstGeom prst="ellipse">
            <a:avLst/>
          </a:prstGeom>
          <a:solidFill>
            <a:srgbClr val="00D4FF">
              <a:alpha val="75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247398" y="4403242"/>
            <a:ext cx="36576" cy="36576"/>
          </a:xfrm>
          <a:prstGeom prst="ellipse">
            <a:avLst/>
          </a:prstGeom>
          <a:solidFill>
            <a:srgbClr val="00D4FF">
              <a:alpha val="21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1924233" y="1853936"/>
            <a:ext cx="36576" cy="36576"/>
          </a:xfrm>
          <a:prstGeom prst="ellipse">
            <a:avLst/>
          </a:prstGeom>
          <a:solidFill>
            <a:srgbClr val="00D4FF">
              <a:alpha val="37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776851" y="1052494"/>
            <a:ext cx="36576" cy="36576"/>
          </a:xfrm>
          <a:prstGeom prst="ellipse">
            <a:avLst/>
          </a:prstGeom>
          <a:solidFill>
            <a:srgbClr val="00D4FF">
              <a:alpha val="57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167224" y="3049433"/>
            <a:ext cx="36576" cy="36576"/>
          </a:xfrm>
          <a:prstGeom prst="ellipse">
            <a:avLst/>
          </a:prstGeom>
          <a:solidFill>
            <a:srgbClr val="00D4FF">
              <a:alpha val="49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2066364" y="2349530"/>
            <a:ext cx="36576" cy="36576"/>
          </a:xfrm>
          <a:prstGeom prst="ellipse">
            <a:avLst/>
          </a:prstGeom>
          <a:solidFill>
            <a:srgbClr val="00D4FF">
              <a:alpha val="29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397055" y="255210"/>
            <a:ext cx="36576" cy="36576"/>
          </a:xfrm>
          <a:prstGeom prst="ellipse">
            <a:avLst/>
          </a:prstGeom>
          <a:solidFill>
            <a:srgbClr val="00D4FF">
              <a:alpha val="49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07994" y="4163454"/>
            <a:ext cx="36576" cy="36576"/>
          </a:xfrm>
          <a:prstGeom prst="ellipse">
            <a:avLst/>
          </a:prstGeom>
          <a:solidFill>
            <a:srgbClr val="00D4FF">
              <a:alpha val="46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115634" y="2610070"/>
            <a:ext cx="36576" cy="36576"/>
          </a:xfrm>
          <a:prstGeom prst="ellipse">
            <a:avLst/>
          </a:prstGeom>
          <a:solidFill>
            <a:srgbClr val="00D4FF">
              <a:alpha val="41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5394148" y="3907937"/>
            <a:ext cx="36576" cy="36576"/>
          </a:xfrm>
          <a:prstGeom prst="ellipse">
            <a:avLst/>
          </a:prstGeom>
          <a:solidFill>
            <a:srgbClr val="00D4FF">
              <a:alpha val="57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959491" y="4861638"/>
            <a:ext cx="36576" cy="36576"/>
          </a:xfrm>
          <a:prstGeom prst="ellipse">
            <a:avLst/>
          </a:prstGeom>
          <a:solidFill>
            <a:srgbClr val="00D4FF">
              <a:alpha val="7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827766" y="4443957"/>
            <a:ext cx="36576" cy="36576"/>
          </a:xfrm>
          <a:prstGeom prst="ellipse">
            <a:avLst/>
          </a:prstGeom>
          <a:solidFill>
            <a:srgbClr val="00D4FF">
              <a:alpha val="66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1455532" y="2521099"/>
            <a:ext cx="36576" cy="36576"/>
          </a:xfrm>
          <a:prstGeom prst="ellipse">
            <a:avLst/>
          </a:prstGeom>
          <a:solidFill>
            <a:srgbClr val="00D4FF">
              <a:alpha val="61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001790" y="3891906"/>
            <a:ext cx="36576" cy="36576"/>
          </a:xfrm>
          <a:prstGeom prst="ellipse">
            <a:avLst/>
          </a:prstGeom>
          <a:solidFill>
            <a:srgbClr val="00D4FF">
              <a:alpha val="31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1001993" y="1451257"/>
            <a:ext cx="36576" cy="36576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2482400" y="2539332"/>
            <a:ext cx="36576" cy="36576"/>
          </a:xfrm>
          <a:prstGeom prst="ellipse">
            <a:avLst/>
          </a:prstGeom>
          <a:solidFill>
            <a:srgbClr val="00D4FF">
              <a:alpha val="27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153714" y="1868976"/>
            <a:ext cx="36576" cy="36576"/>
          </a:xfrm>
          <a:prstGeom prst="ellipse">
            <a:avLst/>
          </a:prstGeom>
          <a:solidFill>
            <a:srgbClr val="00D4FF">
              <a:alpha val="22000"/>
            </a:srgbClr>
          </a:solidFill>
          <a:ln w="12700">
            <a:solidFill>
              <a:srgbClr val="00D4FF">
                <a:alpha val="1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200400" y="731520"/>
            <a:ext cx="2743200" cy="2743200"/>
          </a:xfrm>
          <a:prstGeom prst="ellipse">
            <a:avLst/>
          </a:prstGeom>
          <a:solidFill>
            <a:srgbClr val="7B2FBE">
              <a:alpha val="15000"/>
            </a:srgbClr>
          </a:solidFill>
          <a:ln w="12700">
            <a:solidFill>
              <a:srgbClr val="7B2FBE">
                <a:alpha val="20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457200" y="1371600"/>
            <a:ext cx="82296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Gaussian Splatting</a:t>
            </a:r>
            <a:endParaRPr lang="en-US" sz="4200" dirty="0"/>
          </a:p>
          <a:p>
            <a:pPr algn="ctr"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 100 Lines</a:t>
            </a:r>
            <a:endParaRPr lang="en-US" sz="4200" dirty="0"/>
          </a:p>
        </p:txBody>
      </p:sp>
      <p:sp>
        <p:nvSpPr>
          <p:cNvPr id="44" name="Shape 42"/>
          <p:cNvSpPr/>
          <p:nvPr/>
        </p:nvSpPr>
        <p:spPr>
          <a:xfrm>
            <a:off x="3200400" y="3017520"/>
            <a:ext cx="27432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457200" y="3200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i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Demystifying Real-Time Neural Rendering with Pure PyTorch</a:t>
            </a:r>
            <a:endParaRPr lang="en-US" sz="1800" dirty="0"/>
          </a:p>
        </p:txBody>
      </p:sp>
      <p:sp>
        <p:nvSpPr>
          <p:cNvPr id="46" name="Shape 44"/>
          <p:cNvSpPr/>
          <p:nvPr/>
        </p:nvSpPr>
        <p:spPr>
          <a:xfrm>
            <a:off x="3474720" y="4206240"/>
            <a:ext cx="2194560" cy="457200"/>
          </a:xfrm>
          <a:prstGeom prst="roundRect">
            <a:avLst>
              <a:gd name="adj" fmla="val 20000"/>
            </a:avLst>
          </a:prstGeom>
          <a:solidFill>
            <a:srgbClr val="7B2FBE">
              <a:alpha val="70000"/>
            </a:srgbClr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3474720" y="4206240"/>
            <a:ext cx="21945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Pure PyTorch · No CUDA Required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2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Agenda: What We'll Cover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182880" y="822960"/>
            <a:ext cx="411480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82880" y="822960"/>
            <a:ext cx="54864" cy="1143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9144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2200" dirty="0"/>
          </a:p>
        </p:txBody>
      </p:sp>
      <p:sp>
        <p:nvSpPr>
          <p:cNvPr id="9" name="Text 7"/>
          <p:cNvSpPr/>
          <p:nvPr/>
        </p:nvSpPr>
        <p:spPr>
          <a:xfrm>
            <a:off x="347472" y="1261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Background &amp; Motivation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47472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Why 3DGS matters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182880" y="2148840"/>
            <a:ext cx="411480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2880" y="2148840"/>
            <a:ext cx="54864" cy="11430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47472" y="22402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A855F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347472" y="2587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Core Concepts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47472" y="2898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Gaussians, SH, Covariance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182880" y="3474720"/>
            <a:ext cx="411480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7B2FBE">
                <a:alpha val="4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82880" y="3474720"/>
            <a:ext cx="54864" cy="11430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47472" y="3566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B2F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347472" y="3913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Math Foundations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347472" y="4224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Projection, Jacobian, Alpha Compositing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822960"/>
            <a:ext cx="411480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>
                <a:alpha val="4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822960"/>
            <a:ext cx="54864" cy="11430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28032" y="91440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2200" dirty="0"/>
          </a:p>
        </p:txBody>
      </p:sp>
      <p:sp>
        <p:nvSpPr>
          <p:cNvPr id="24" name="Text 22"/>
          <p:cNvSpPr/>
          <p:nvPr/>
        </p:nvSpPr>
        <p:spPr>
          <a:xfrm>
            <a:off x="4828032" y="126187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Tile-Based Splatting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4828032" y="157276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Culling, Sorting, Tiling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4663440" y="2148840"/>
            <a:ext cx="411480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>
                <a:alpha val="4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663440" y="2148840"/>
            <a:ext cx="54864" cy="114300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828032" y="224028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2200" dirty="0"/>
          </a:p>
        </p:txBody>
      </p:sp>
      <p:sp>
        <p:nvSpPr>
          <p:cNvPr id="29" name="Text 27"/>
          <p:cNvSpPr/>
          <p:nvPr/>
        </p:nvSpPr>
        <p:spPr>
          <a:xfrm>
            <a:off x="4828032" y="258775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Code Walkthrough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4828032" y="289864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~300 lines, zero CUDA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4663440" y="3474720"/>
            <a:ext cx="4114800" cy="11430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663440" y="3474720"/>
            <a:ext cx="54864" cy="11430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828032" y="3566160"/>
            <a:ext cx="502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0D4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2200" dirty="0"/>
          </a:p>
        </p:txBody>
      </p:sp>
      <p:sp>
        <p:nvSpPr>
          <p:cNvPr id="34" name="Text 32"/>
          <p:cNvSpPr/>
          <p:nvPr/>
        </p:nvSpPr>
        <p:spPr>
          <a:xfrm>
            <a:off x="4828032" y="3913632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Results &amp; Key Learnings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828032" y="4224528"/>
            <a:ext cx="3749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Quality, speed, insights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3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3D Gaussian Splatting?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53035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real-time rendering technique that represents 3D scenes as millions of 3D Gaussian blobs — then splats (projects) them onto a 2D screen.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600200"/>
            <a:ext cx="5029200" cy="749808"/>
          </a:xfrm>
          <a:prstGeom prst="rect">
            <a:avLst/>
          </a:prstGeom>
          <a:solidFill>
            <a:srgbClr val="0F2040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600200"/>
            <a:ext cx="54864" cy="74980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691640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2023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947672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Published at SIGGRAPH by Kerbl et al.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441448"/>
            <a:ext cx="5029200" cy="749808"/>
          </a:xfrm>
          <a:prstGeom prst="rect">
            <a:avLst/>
          </a:prstGeom>
          <a:solidFill>
            <a:srgbClr val="0F2040"/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441448"/>
            <a:ext cx="54864" cy="74980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532888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3DGS vs NeRF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788920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Real-time (&gt;30 fps) vs minutes per frame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282696"/>
            <a:ext cx="5029200" cy="749808"/>
          </a:xfrm>
          <a:prstGeom prst="rect">
            <a:avLst/>
          </a:prstGeom>
          <a:solidFill>
            <a:srgbClr val="0F2040"/>
          </a:solidFill>
          <a:ln w="12700">
            <a:solidFill>
              <a:srgbClr val="7B2FBE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282696"/>
            <a:ext cx="54864" cy="749808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374136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BE"/>
                </a:solidFill>
              </a:rPr>
              <a:t>Representation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630168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Millions of 3D Gaussians with color + opacity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4123944"/>
            <a:ext cx="5029200" cy="749808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4123944"/>
            <a:ext cx="54864" cy="749808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215384"/>
            <a:ext cx="4846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0B981"/>
                </a:solidFill>
              </a:rPr>
              <a:t>No CUDA needed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471416"/>
            <a:ext cx="4846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Core math is pure linear algebra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0" y="777240"/>
            <a:ext cx="3200400" cy="3931920"/>
          </a:xfrm>
          <a:prstGeom prst="rect">
            <a:avLst/>
          </a:prstGeom>
          <a:solidFill>
            <a:srgbClr val="0F2040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0" y="1097280"/>
            <a:ext cx="3200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400" b="1" dirty="0">
                <a:solidFill>
                  <a:srgbClr val="00D4FF"/>
                </a:solidFill>
              </a:rPr>
              <a:t>100+</a:t>
            </a:r>
            <a:endParaRPr lang="en-US" sz="6400" dirty="0"/>
          </a:p>
        </p:txBody>
      </p:sp>
      <p:sp>
        <p:nvSpPr>
          <p:cNvPr id="25" name="Text 23"/>
          <p:cNvSpPr/>
          <p:nvPr/>
        </p:nvSpPr>
        <p:spPr>
          <a:xfrm>
            <a:off x="5669280" y="2103120"/>
            <a:ext cx="3200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7A8FA6"/>
                </a:solidFill>
              </a:rPr>
              <a:t>fps</a:t>
            </a:r>
            <a:endParaRPr lang="en-US" sz="1800" dirty="0"/>
          </a:p>
        </p:txBody>
      </p:sp>
      <p:sp>
        <p:nvSpPr>
          <p:cNvPr id="26" name="Shape 24"/>
          <p:cNvSpPr/>
          <p:nvPr/>
        </p:nvSpPr>
        <p:spPr>
          <a:xfrm>
            <a:off x="6126480" y="2697480"/>
            <a:ext cx="2286000" cy="27432"/>
          </a:xfrm>
          <a:prstGeom prst="rect">
            <a:avLst/>
          </a:prstGeom>
          <a:solidFill>
            <a:srgbClr val="00D4FF">
              <a:alpha val="40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669280" y="2834640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8D6E8"/>
                </a:solidFill>
              </a:rPr>
              <a:t>Real-time rendering speed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C8D6E8"/>
                </a:solidFill>
              </a:rPr>
              <a:t>vs NeRF's minutes/frame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669280" y="3657600"/>
            <a:ext cx="3200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</a:rPr>
              <a:t>3M+ Gaussians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A855F7"/>
                </a:solidFill>
              </a:rPr>
              <a:t>per scene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4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Existing Approaches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</a:rPr>
              <a:t>Before 3DGS, neural scene rendering had painful trade-offs: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182880" y="1280160"/>
            <a:ext cx="2743200" cy="3566160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82880" y="1280160"/>
            <a:ext cx="2743200" cy="50292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🧠 NeRF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187452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8D6E8"/>
                </a:solidFill>
              </a:rPr>
              <a:t>Ray-marching through a neural network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8D6E8"/>
                </a:solidFill>
              </a:rPr>
              <a:t>Photorealistic quality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8D6E8"/>
                </a:solidFill>
              </a:rPr>
              <a:t>Minutes per rendered frame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8D6E8"/>
                </a:solidFill>
              </a:rPr>
              <a:t>Not viable for real-time use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8D6E8"/>
                </a:solidFill>
              </a:rPr>
              <a:t>Complex to implement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3108960" y="1280160"/>
            <a:ext cx="2743200" cy="3566160"/>
          </a:xfrm>
          <a:prstGeom prst="rect">
            <a:avLst/>
          </a:prstGeom>
          <a:solidFill>
            <a:srgbClr val="0F2040"/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08960" y="1280160"/>
            <a:ext cx="2743200" cy="502920"/>
          </a:xfrm>
          <a:prstGeom prst="rect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20040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🔺 Meshes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200400" y="187452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8D6E8"/>
                </a:solidFill>
              </a:rPr>
              <a:t>Fast rasterization (GPU-native)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8D6E8"/>
                </a:solidFill>
              </a:rPr>
              <a:t>Requires manual topology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8D6E8"/>
                </a:solidFill>
              </a:rPr>
              <a:t>Poor for fuzzy/transparent objects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8D6E8"/>
                </a:solidFill>
              </a:rPr>
              <a:t>Hard to reconstruct from photos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8D6E8"/>
                </a:solidFill>
              </a:rPr>
              <a:t>Artists needed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035040" y="1280160"/>
            <a:ext cx="2743200" cy="3566160"/>
          </a:xfrm>
          <a:prstGeom prst="rect">
            <a:avLst/>
          </a:prstGeom>
          <a:solidFill>
            <a:srgbClr val="0F2040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035040" y="1280160"/>
            <a:ext cx="2743200" cy="502920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126480" y="1325880"/>
            <a:ext cx="2560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✨ 3D Gaussian Splatting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6126480" y="1874520"/>
            <a:ext cx="256032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8D6E8"/>
                </a:solidFill>
              </a:rPr>
              <a:t>Learns from photos (like NeRF)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8D6E8"/>
                </a:solidFill>
              </a:rPr>
              <a:t>Real-time rendering (like meshes)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8D6E8"/>
                </a:solidFill>
              </a:rPr>
              <a:t>Handles transparency naturally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8D6E8"/>
                </a:solidFill>
              </a:rPr>
              <a:t>Pure PyTorch implementation</a:t>
            </a:r>
            <a:endParaRPr lang="en-US" sz="10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50" dirty="0">
                <a:solidFill>
                  <a:srgbClr val="C8D6E8"/>
                </a:solidFill>
              </a:rPr>
              <a:t>~300 lines of code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1097280"/>
            <a:ext cx="3657600" cy="3657600"/>
          </a:xfrm>
          <a:prstGeom prst="ellipse">
            <a:avLst/>
          </a:prstGeom>
          <a:solidFill>
            <a:srgbClr val="7B2FBE">
              <a:alpha val="12000"/>
            </a:srgbClr>
          </a:solidFill>
          <a:ln w="12700">
            <a:solidFill>
              <a:srgbClr val="7B2FBE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02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40480" y="82296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🔮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Concepts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743200" y="3474720"/>
            <a:ext cx="3657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6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Points to Gaussians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</a:rPr>
              <a:t>Each 3D Gaussian encodes a soft, volumetric blob in space with learned properties: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5120640" cy="777240"/>
          </a:xfrm>
          <a:prstGeom prst="rect">
            <a:avLst/>
          </a:prstGeom>
          <a:solidFill>
            <a:srgbClr val="0F2040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34440"/>
            <a:ext cx="54864" cy="7772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11480" y="132588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μ  (Mean)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581912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3D center position (x, y, z)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274320" y="2130552"/>
            <a:ext cx="5120640" cy="777240"/>
          </a:xfrm>
          <a:prstGeom prst="rect">
            <a:avLst/>
          </a:prstGeom>
          <a:solidFill>
            <a:srgbClr val="0F2040"/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2130552"/>
            <a:ext cx="54864" cy="7772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2221992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Σ  (Covariance)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2478024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Shape, size, and orientation of the blob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274320" y="3026664"/>
            <a:ext cx="5120640" cy="777240"/>
          </a:xfrm>
          <a:prstGeom prst="rect">
            <a:avLst/>
          </a:prstGeom>
          <a:solidFill>
            <a:srgbClr val="0F2040"/>
          </a:solidFill>
          <a:ln w="12700">
            <a:solidFill>
              <a:srgbClr val="7B2FBE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274320" y="3026664"/>
            <a:ext cx="54864" cy="7772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11480" y="311810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BE"/>
                </a:solidFill>
              </a:rPr>
              <a:t>α  (Opacity)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11480" y="3374136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How transparent/solid (0→1)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274320" y="3922776"/>
            <a:ext cx="5120640" cy="777240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274320" y="3922776"/>
            <a:ext cx="54864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11480" y="401421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SH Coefficients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1480" y="4270248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View-dependent color (replaces fixed RGB)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943600" y="1005840"/>
            <a:ext cx="2743200" cy="2743200"/>
          </a:xfrm>
          <a:prstGeom prst="ellipse">
            <a:avLst/>
          </a:prstGeom>
          <a:solidFill>
            <a:srgbClr val="00D4FF">
              <a:alpha val="12000"/>
            </a:srgbClr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400800" y="1463040"/>
            <a:ext cx="1828800" cy="1828800"/>
          </a:xfrm>
          <a:prstGeom prst="ellipse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60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858000" y="1920240"/>
            <a:ext cx="914400" cy="914400"/>
          </a:xfrm>
          <a:prstGeom prst="ellipse">
            <a:avLst/>
          </a:prstGeom>
          <a:solidFill>
            <a:srgbClr val="00D4FF">
              <a:alpha val="60000"/>
            </a:srgbClr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7223760" y="2286000"/>
            <a:ext cx="182880" cy="18288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5760720" y="3931920"/>
            <a:ext cx="31089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Gaussian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fall-off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7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Gaussian Parameterization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</a:rPr>
              <a:t>The 3D Gaussian is fully defined by a mean vector and a covariance matrix: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8503920" cy="1234440"/>
          </a:xfrm>
          <a:prstGeom prst="rect">
            <a:avLst/>
          </a:prstGeom>
          <a:solidFill>
            <a:srgbClr val="050A14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53312"/>
            <a:ext cx="8321040" cy="10881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G(x) = exp(-½ · (x - μ)ᵀ · Σ⁻¹ · (x - μ))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μ ∈ ℝ³         → center of the Gaussian in 3D space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Σ ∈ ℝ³ˣ³       → positive semi-definite covariance matrix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G(x) ∈ [0, 1]  → opacity-like density at position x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269748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Why not just learn Σ directly?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3108960"/>
            <a:ext cx="5029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8"/>
                </a:solidFill>
              </a:rPr>
              <a:t>Gradient descent can push Σ into invalid (non-positive definite) territory, breaking the Gaussian. Instead, two unconstrained variables are learned: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3886200"/>
            <a:ext cx="4114800" cy="777240"/>
          </a:xfrm>
          <a:prstGeom prst="rect">
            <a:avLst/>
          </a:prstGeom>
          <a:solidFill>
            <a:srgbClr val="0F2040"/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3886200"/>
            <a:ext cx="54864" cy="7772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Scale vector  s ∈ ℝ³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233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Diagonal scale — controls the stretch along each axis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526280" y="3886200"/>
            <a:ext cx="4114800" cy="777240"/>
          </a:xfrm>
          <a:prstGeom prst="rect">
            <a:avLst/>
          </a:prstGeom>
          <a:solidFill>
            <a:srgbClr val="0F2040"/>
          </a:solidFill>
          <a:ln w="12700">
            <a:solidFill>
              <a:srgbClr val="7B2FBE">
                <a:alpha val="50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526280" y="3886200"/>
            <a:ext cx="54864" cy="7772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663440" y="39776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BE"/>
                </a:solidFill>
              </a:rPr>
              <a:t>Quaternion  q ∈ ℝ⁴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663440" y="4233672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Unit quaternion — controls the 3D rotation/orientation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5760720" y="2606040"/>
            <a:ext cx="3108960" cy="2148840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852160" y="2743200"/>
            <a:ext cx="292608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59E0B"/>
                </a:solidFill>
              </a:rPr>
              <a:t>✓ Always valid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59E0B"/>
                </a:solidFill>
              </a:rPr>
              <a:t>✓ Freely optimizable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F59E0B"/>
                </a:solidFill>
              </a:rPr>
              <a:t>✓ Decouples shape from rotation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8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Building a Valid Covariance Matrix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</a:rPr>
              <a:t>From scale s and quaternion q → valid positive-definite Σ: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03920" cy="1828800"/>
          </a:xfrm>
          <a:prstGeom prst="rect">
            <a:avLst/>
          </a:prstGeom>
          <a:solidFill>
            <a:srgbClr val="050A14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07592"/>
            <a:ext cx="8321040" cy="1682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1: Quaternion → Rotation Matrix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quat_to_rotmat(q):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q = (w, x, y, z)  |q| = 1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... # 3x3 rotation matrix via standard formula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2: Scale → Diagonal Matrix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 = diag(exp(s))   # exp ensures positive values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Step 3: Compose the covariance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 = R @ S @ Sᵀ @ Rᵀ    # Always symmetric + positive-definite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320040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Why exp(s) for scale?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274320" y="3584448"/>
            <a:ext cx="49377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8"/>
                </a:solidFill>
              </a:rPr>
              <a:t>We learn log-scale in unconstrained ℝ. Taking exp() guarantees positive diagonal values, making the scale matrix valid at all times.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760720" y="3017520"/>
            <a:ext cx="3108960" cy="1691640"/>
          </a:xfrm>
          <a:prstGeom prst="rect">
            <a:avLst/>
          </a:prstGeom>
          <a:solidFill>
            <a:srgbClr val="0F2040"/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852160" y="3108960"/>
            <a:ext cx="292608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855F7"/>
                </a:solidFill>
              </a:rPr>
              <a:t>Σ = R S Sᵀ Rᵀ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855F7"/>
                </a:solidFill>
              </a:rPr>
              <a:t>Always: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855F7"/>
                </a:solidFill>
              </a:rPr>
              <a:t>✓ Symmetric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855F7"/>
                </a:solidFill>
              </a:rPr>
              <a:t>✓ Positive definite</a:t>
            </a:r>
            <a:endParaRPr lang="en-US" sz="1200" dirty="0"/>
          </a:p>
          <a:p>
            <a:pPr indent="0" marL="0">
              <a:spcAft>
                <a:spcPts val="300"/>
              </a:spcAft>
              <a:buNone/>
            </a:pPr>
            <a:r>
              <a:rPr lang="en-US" sz="1200" dirty="0">
                <a:solidFill>
                  <a:srgbClr val="A855F7"/>
                </a:solidFill>
              </a:rPr>
              <a:t>✓ Invertible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9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Spherical Harmonics for View-Dependent Color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</a:rPr>
              <a:t>Color is not fixed — it changes based on the viewing direction, just like real materials: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03920" cy="2011680"/>
          </a:xfrm>
          <a:prstGeom prst="rect">
            <a:avLst/>
          </a:prstGeom>
          <a:solidFill>
            <a:srgbClr val="050A14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07592"/>
            <a:ext cx="8321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evaluate_sh(sh_coeffs, viewing_direction):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sh_coeffs: (N, 3, (degree+1)²) — learned per-Gaussian SH coefficients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viewing_direction: unit vector from camera to Gaussian center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returns: RGB color (N, 3) for this viewpoint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 = viewing_direction  # (x, y, z) normalized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Evaluate basis functions Y_l^m(d) up to chosen degree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 = SH_C0 * sh_coeffs[:, :, 0]   # degree-0: constant base color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 += SH_C1 * (...)                # degree-1: linear view variation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 += ...                          # degree-2,3: specular highlights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sigmoid(color + 0.5)           # map to [0, 1]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3383280"/>
            <a:ext cx="850392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7A8FA6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3383280"/>
            <a:ext cx="54864" cy="502920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474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FA6"/>
                </a:solidFill>
              </a:rPr>
              <a:t>Degree 0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730752"/>
            <a:ext cx="832104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1 coefficient → constant color (no view effect)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950208"/>
            <a:ext cx="850392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950208"/>
            <a:ext cx="54864" cy="50292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041648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Degree 1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4297680"/>
            <a:ext cx="832104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4 coefficients → smooth directional color shift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4517136"/>
            <a:ext cx="8503920" cy="502920"/>
          </a:xfrm>
          <a:prstGeom prst="rect">
            <a:avLst/>
          </a:prstGeom>
          <a:solidFill>
            <a:srgbClr val="0F2040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4517136"/>
            <a:ext cx="54864" cy="50292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608576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Degree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864608"/>
            <a:ext cx="8321040" cy="45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16 coefficients → captures specular highlights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" y="50749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</a:rPr>
              <a:t>⚠ Must recompute every frame — camera direction changes!</a:t>
            </a:r>
            <a:endParaRPr lang="en-US" sz="11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1097280"/>
            <a:ext cx="3657600" cy="3657600"/>
          </a:xfrm>
          <a:prstGeom prst="ellipse">
            <a:avLst/>
          </a:prstGeom>
          <a:solidFill>
            <a:srgbClr val="7B2FBE">
              <a:alpha val="12000"/>
            </a:srgbClr>
          </a:solidFill>
          <a:ln w="12700">
            <a:solidFill>
              <a:srgbClr val="7B2FBE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40480" y="82296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📐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Mathematical Foundations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743200" y="3474720"/>
            <a:ext cx="3657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11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Camera Model: Intrinsics &amp; Extrinsics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</a:rPr>
              <a:t>To project 3D Gaussians onto the screen we need two sets of camera parameters: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3474720"/>
          </a:xfrm>
          <a:prstGeom prst="rect">
            <a:avLst/>
          </a:prstGeom>
          <a:solidFill>
            <a:srgbClr val="0F2040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34440"/>
            <a:ext cx="4114800" cy="457200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618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🎯 Intrinsics  K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8D6E8"/>
                </a:solidFill>
              </a:rPr>
              <a:t>Describes the internal lens geometry: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8D6E8"/>
                </a:solidFill>
              </a:rPr>
              <a:t>• fx, fy — focal lengths (pixels)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8D6E8"/>
                </a:solidFill>
              </a:rPr>
              <a:t>• cx, cy — principal point (image center)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8D6E8"/>
                </a:solidFill>
              </a:rPr>
              <a:t>• Controls how 3D → 2D mapping scales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8D6E8"/>
                </a:solidFill>
              </a:rPr>
              <a:t>• Derived from field of view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8D6E8"/>
                </a:solidFill>
              </a:rPr>
              <a:t>K = [[fx, 0, cx], [0, fy, cy], [0, 0, 1]]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114800" cy="3474720"/>
          </a:xfrm>
          <a:prstGeom prst="rect">
            <a:avLst/>
          </a:prstGeom>
          <a:solidFill>
            <a:srgbClr val="0F2040"/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234440"/>
            <a:ext cx="4114800" cy="457200"/>
          </a:xfrm>
          <a:prstGeom prst="rect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2618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📷 Extrinsics  [R|t]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783080"/>
            <a:ext cx="384048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8D6E8"/>
                </a:solidFill>
              </a:rPr>
              <a:t>Describes camera pose in world space: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8D6E8"/>
                </a:solidFill>
              </a:rPr>
              <a:t>• R — 3×3 rotation matrix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8D6E8"/>
                </a:solidFill>
              </a:rPr>
              <a:t>• t — 3D translation vector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8D6E8"/>
                </a:solidFill>
              </a:rPr>
              <a:t>• Transforms world coords → camera coords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8D6E8"/>
                </a:solidFill>
              </a:rPr>
              <a:t>• Computed from SfM/COLMAP output</a:t>
            </a: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endParaRPr lang="en-US" sz="115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150" dirty="0">
                <a:solidFill>
                  <a:srgbClr val="C8D6E8"/>
                </a:solidFill>
              </a:rPr>
              <a:t>p_cam = R @ p_world + t</a:t>
            </a:r>
            <a:endParaRPr lang="en-US" sz="11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12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Perspective Projection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</a:rPr>
              <a:t>Projecting 3D Gaussian centers (means) onto the 2D image plane: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03920" cy="2194560"/>
          </a:xfrm>
          <a:prstGeom prst="rect">
            <a:avLst/>
          </a:prstGeom>
          <a:solidFill>
            <a:srgbClr val="050A14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07592"/>
            <a:ext cx="8321040" cy="20482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project_points(means_3d, viewmat, K):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"""Project N 3D points into 2D pixel coords"""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1. World → Camera space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p_cam = (viewmat[:3, :3] @ means_3d.T).T + viewmat[:3, 3]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2. Perspective divide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x = p_cam[:, 0] / p_cam[:, 2]   # x / depth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y = p_cam[:, 1] / p_cam[:, 2]   # y / depth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3. Apply focal length &amp; principal point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u = K[0,0] * x + K[0,2]         # pixel column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 = K[1,1] * y + K[1,2]         # pixel row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depths = p_cam[:, 2]             # needed for depth sorting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torch.stack([u, v], dim=-1), depths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356616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FA6"/>
                </a:solidFill>
              </a:rPr>
              <a:t>Key insight: depth (z) is preserved for later sorting. Gaussians behind the camera are culled after this step.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4160520"/>
            <a:ext cx="8503920" cy="640080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4160520"/>
            <a:ext cx="54864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425196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scale_intrinsics()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450799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If rendering at lower resolution, focal lengths (fx, fy) scale proportionally so FOV stays correct.</a:t>
            </a:r>
            <a:endParaRPr lang="en-US" sz="11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13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3D → 2D Covariance via Jacobian Approximation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</a:rPr>
              <a:t>Projecting the 3D Gaussian shape onto the screen requires linearizing the perspective transform: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03920" cy="1783080"/>
          </a:xfrm>
          <a:prstGeom prst="rect">
            <a:avLst/>
          </a:prstGeom>
          <a:solidFill>
            <a:srgbClr val="050A14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07592"/>
            <a:ext cx="8321040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Jacobian of perspective projection (affine approximation)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tx, ty, tz = t_x, t_y, t_z   # camera-space mean position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 = (1/tz) * [[fx,  0, -fx*tx/tz],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[0,  fy, -fy*ty/tz]]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Project 3D covariance Σ to 2D screen covariance Σ'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 = viewmat[:3, :3]               # rotation part of view matrix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Σ_2d = J @ W @ Σ_3d @ Wᵀ @ Jᵀ  # 2x2 screen-space covariance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3127248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</a:rPr>
              <a:t>The resulting Σ' is a 2×2 matrix that defines the shape of the Gaussian blob on screen: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3566160"/>
            <a:ext cx="27432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4320" y="3566160"/>
            <a:ext cx="54864" cy="6858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1148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Σ'[0,0]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11480" y="3913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Horizontal spread (pixels²)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3200400" y="3566160"/>
            <a:ext cx="27432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00400" y="3566160"/>
            <a:ext cx="54864" cy="68580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3756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Σ'[1,1]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337560" y="3913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Vertical spread (pixels²)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126480" y="3566160"/>
            <a:ext cx="2743200" cy="685800"/>
          </a:xfrm>
          <a:prstGeom prst="rect">
            <a:avLst/>
          </a:prstGeom>
          <a:solidFill>
            <a:srgbClr val="0F2040"/>
          </a:solidFill>
          <a:ln w="12700">
            <a:solidFill>
              <a:srgbClr val="7B2FBE">
                <a:alpha val="50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26480" y="3566160"/>
            <a:ext cx="54864" cy="68580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263640" y="365760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BE"/>
                </a:solidFill>
              </a:rPr>
              <a:t>Σ'[0,1]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6263640" y="3913632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Shear / rotation on screen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274320" y="43891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FA6"/>
                </a:solidFill>
              </a:rPr>
              <a:t>This is the heart of the 'splatting' — the 3D blob becomes a 2D ellipse on screen.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14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Volumetric Rendering from NeRF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</a:rPr>
              <a:t>3DGS inherits its pixel color formula from Neural Radiance Fields: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03920" cy="1691640"/>
          </a:xfrm>
          <a:prstGeom prst="rect">
            <a:avLst/>
          </a:prstGeom>
          <a:solidFill>
            <a:srgbClr val="050A14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07592"/>
            <a:ext cx="8321040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NeRF-style front-to-back alpha compositing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C_pixel = Σᵢ  (αᵢ · Tᵢ · cᵢ)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where: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αᵢ = opacity of Gaussian i at this pixel (from 2D Gaussian PDF × learned α)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Tᵢ = transmittance = Π_{j&lt;i} (1 - αⱼ)   ← how much light reaches Gaussian i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cᵢ = color of Gaussian i (evaluated from Spherical Harmonics)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3017520"/>
            <a:ext cx="5029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</a:rPr>
              <a:t>Transmittance T accumulates as we walk front-to-back: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" y="3429000"/>
            <a:ext cx="5029200" cy="1371600"/>
          </a:xfrm>
          <a:prstGeom prst="rect">
            <a:avLst/>
          </a:prstGeom>
          <a:solidFill>
            <a:srgbClr val="050A14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502152"/>
            <a:ext cx="484632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 = 1.0          # start with full transparency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final_color = 0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each Gaussian i (sorted front to back):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alpha = pdf_2d(pixel, Gaussian_i) * opacity[i]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final_color += T * alpha * color[i]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 *= (1 - alpha)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T &lt; 0.0001: break   # early termination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5486400" y="1188720"/>
            <a:ext cx="3383280" cy="3611880"/>
          </a:xfrm>
          <a:prstGeom prst="rect">
            <a:avLst/>
          </a:prstGeom>
          <a:solidFill>
            <a:srgbClr val="0F2040"/>
          </a:solidFill>
          <a:ln w="12700">
            <a:solidFill>
              <a:srgbClr val="00D4FF">
                <a:alpha val="45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77840" y="1325880"/>
            <a:ext cx="3200400" cy="3291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C8D6E8"/>
                </a:solidFill>
              </a:rPr>
              <a:t>T = 1.0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C8D6E8"/>
                </a:solidFill>
              </a:rPr>
              <a:t>→ first Gaussian contributes fully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C8D6E8"/>
                </a:solidFill>
              </a:rPr>
              <a:t>T decreases each step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C8D6E8"/>
                </a:solidFill>
              </a:rPr>
              <a:t>→ later Gaussians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C8D6E8"/>
                </a:solidFill>
              </a:rPr>
              <a:t>contribute less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C8D6E8"/>
                </a:solidFill>
              </a:rPr>
              <a:t>T ≈ 0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C8D6E8"/>
                </a:solidFill>
              </a:rPr>
              <a:t>→ pixel is fully opaque</a:t>
            </a:r>
            <a:endParaRPr lang="en-US" sz="11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C8D6E8"/>
                </a:solidFill>
              </a:rPr>
              <a:t>→ early exit!</a:t>
            </a:r>
            <a:endParaRPr lang="en-US" sz="11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15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Alpha Compositing: The 2D Gaussian PDF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</a:rPr>
              <a:t>The key quantity is how strongly each Gaussian contributes to a pixel — computed via its 2D PDF: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03920" cy="1783080"/>
          </a:xfrm>
          <a:prstGeom prst="rect">
            <a:avLst/>
          </a:prstGeom>
          <a:solidFill>
            <a:srgbClr val="050A14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07592"/>
            <a:ext cx="8321040" cy="16367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For pixel p and Gaussian with 2D mean μ' and covariance Σ'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Δ = p - μ'                             # pixel offset from Gaussian center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power = -0.5 * Δᵀ · (Σ')⁻¹ · Δ       # Mahalanobis distance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pdf = exp(power)                        # ranges [0, 1]; peaks at center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alpha = min(0.99, opacity * pdf)        # final per-pixel alpha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3154680"/>
            <a:ext cx="411480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3154680"/>
            <a:ext cx="54864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Center pixel (Δ=0)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5021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power = 0  →  pdf = 1  →  maximum contribution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26280" y="3154680"/>
            <a:ext cx="411480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3154680"/>
            <a:ext cx="54864" cy="6583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2461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Far pixel (large Δ)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350215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power &lt;&lt; 0  →  pdf ≈ 0  →  negligible contribution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4320" y="393192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7A8FA6"/>
                </a:solidFill>
              </a:rPr>
              <a:t>This is exactly a 2D Gaussian distribution — that's why the technique is called Gaussian Splatting.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274320" y="4434840"/>
            <a:ext cx="8503920" cy="594360"/>
          </a:xfrm>
          <a:prstGeom prst="rect">
            <a:avLst/>
          </a:prstGeom>
          <a:solidFill>
            <a:srgbClr val="050A14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507992"/>
            <a:ext cx="8321040" cy="44805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Inverse of 2x2 covariance (fast closed form)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det = cov2d[0]*cov2d[3] - cov2d[1]*cov2d[2]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inv_cov = (1/det) * [[cov2d[3], -cov2d[1]], [-cov2d[2], cov2d[0]]]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1097280"/>
            <a:ext cx="3657600" cy="3657600"/>
          </a:xfrm>
          <a:prstGeom prst="ellipse">
            <a:avLst/>
          </a:prstGeom>
          <a:solidFill>
            <a:srgbClr val="7B2FBE">
              <a:alpha val="12000"/>
            </a:srgbClr>
          </a:solidFill>
          <a:ln w="12700">
            <a:solidFill>
              <a:srgbClr val="7B2FBE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04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40480" y="82296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🗂️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Tile-Based Splatting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743200" y="3474720"/>
            <a:ext cx="3657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17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1: Culling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</a:rPr>
              <a:t>Not every Gaussian contributes to the image — we discard irrelevant ones early: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03920" cy="2011680"/>
          </a:xfrm>
          <a:prstGeom prst="rect">
            <a:avLst/>
          </a:prstGeom>
          <a:solidFill>
            <a:srgbClr val="050A14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07592"/>
            <a:ext cx="8321040" cy="186537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After projecting all Gaussian means to 2D (u, v):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valid_mask = (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(depths &gt; 0.01)                    # behind camera?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 (u &gt;= 0) &amp; (u &lt; W)              # off-screen horizontally?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&amp; (v &gt;= 0) &amp; (v &lt; H)              # off-screen vertically?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Discard everything outside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means_2d  = means_2d[valid_mask]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cov_2d    = cov_2d[valid_mask]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    = colors[valid_mask]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opacities = opacities[valid_mask]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depths    = depths[valid_mask]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3383280"/>
            <a:ext cx="8503920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3383280"/>
            <a:ext cx="54864" cy="5303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47472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Behind Camera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3730752"/>
            <a:ext cx="83210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depth ≤ 0 → skip (perspective inversion)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274320" y="3977640"/>
            <a:ext cx="8503920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74320" y="3977640"/>
            <a:ext cx="54864" cy="530352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11480" y="40690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Off-Screen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11480" y="4325112"/>
            <a:ext cx="83210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u,v outside image bounds → skip entirely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274320" y="4572000"/>
            <a:ext cx="8503920" cy="530352"/>
          </a:xfrm>
          <a:prstGeom prst="rect">
            <a:avLst/>
          </a:prstGeom>
          <a:solidFill>
            <a:srgbClr val="0F2040"/>
          </a:solidFill>
          <a:ln w="12700">
            <a:solidFill>
              <a:srgbClr val="7A8FA6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4572000"/>
            <a:ext cx="54864" cy="530352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11480" y="46634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FA6"/>
                </a:solidFill>
              </a:rPr>
              <a:t>Near-Zero Alpha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411480" y="4919472"/>
            <a:ext cx="8321040" cy="731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opacity &lt; threshold → optionally skip</a:t>
            </a:r>
            <a:endParaRPr lang="en-US" sz="1150" dirty="0"/>
          </a:p>
        </p:txBody>
      </p:sp>
      <p:sp>
        <p:nvSpPr>
          <p:cNvPr id="21" name="Text 19"/>
          <p:cNvSpPr/>
          <p:nvPr/>
        </p:nvSpPr>
        <p:spPr>
          <a:xfrm>
            <a:off x="274320" y="5166360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8FA6"/>
                </a:solidFill>
              </a:rPr>
              <a:t>Culling dramatically reduces the number of Gaussians that must be sorted and rendered.</a:t>
            </a:r>
            <a:endParaRPr lang="en-US" sz="11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18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2: Depth Sorting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</a:rPr>
              <a:t>Alpha compositing requires front-to-back ordering — closer Gaussians must come first: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03920" cy="1691640"/>
          </a:xfrm>
          <a:prstGeom prst="rect">
            <a:avLst/>
          </a:prstGeom>
          <a:solidFill>
            <a:srgbClr val="050A14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07592"/>
            <a:ext cx="8321040" cy="1545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Sort all surviving Gaussians by depth (ascending = front-to-back)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= torch.argsort(depths)   # indices that sort by depth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means_2d  = means_2d[order]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cov_2d    = cov_2d[order]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colors    = colors[order]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opacities = opacities[order]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depths also reordered — now guaranteed front-to-back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3017520"/>
            <a:ext cx="8503920" cy="1783080"/>
          </a:xfrm>
          <a:prstGeom prst="rect">
            <a:avLst/>
          </a:prstGeom>
          <a:solidFill>
            <a:srgbClr val="0F2040"/>
          </a:solidFill>
          <a:ln w="12700">
            <a:solidFill>
              <a:srgbClr val="A855F7">
                <a:alpha val="4500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108960"/>
            <a:ext cx="36576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Why depth sorting matters: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11480" y="3474720"/>
            <a:ext cx="81381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8"/>
                </a:solidFill>
              </a:rPr>
              <a:t>Without sorting, the transmittance T formula breaks down. A back Gaussian must see 'through' all front Gaussians to know its contribution. If rendered out-of-order, colors blend incorrectly and you get artifacts.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274320" y="4892040"/>
            <a:ext cx="8503920" cy="640080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4892040"/>
            <a:ext cx="54864" cy="6400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11480" y="498348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Original paper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411480" y="5239512"/>
            <a:ext cx="8321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Used a fast GPU Radix Sort for the tiling step. This pure-Python version uses torch.argsort, which achieves the same effect.</a:t>
            </a:r>
            <a:endParaRPr lang="en-US" sz="11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19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3: Tile Indexing &amp; AABB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</a:rPr>
              <a:t>The screen is divided into 16×16 pixel tiles. For each Gaussian we compute its Axis-Aligned Bounding Box: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03920" cy="2057400"/>
          </a:xfrm>
          <a:prstGeom prst="rect">
            <a:avLst/>
          </a:prstGeom>
          <a:solidFill>
            <a:srgbClr val="050A14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07592"/>
            <a:ext cx="8321040" cy="19110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TILE_SIZE = 16   # pixels per tile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n_tiles_x = ceil(W / TILE_SIZE)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n_tiles_y = ceil(H / TILE_SIZE)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Compute 3-sigma radius for each Gaussian's 2D projection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radius = ceil(3 * sqrt(max(cov2d[:, 0, 0], cov2d[:, 1, 1])))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AABB (Axis-Aligned Bounding Box) in tile space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min_tx = clamp((u - radius) // TILE_SIZE, 0, n_tiles_x)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max_tx = clamp((u + radius) // TILE_SIZE + 1, 0, n_tiles_x)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min_ty = clamp((v - radius) // TILE_SIZE, 0, n_tiles_y)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max_ty = clamp((v + radius) // TILE_SIZE + 1, 0, n_tiles_y)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338328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8"/>
                </a:solidFill>
              </a:rPr>
              <a:t>Each Gaussian may overlap multiple tiles — we replicate it once per tile covered: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794760"/>
            <a:ext cx="8503920" cy="1188720"/>
          </a:xfrm>
          <a:prstGeom prst="rect">
            <a:avLst/>
          </a:prstGeom>
          <a:solidFill>
            <a:srgbClr val="050A14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867912"/>
            <a:ext cx="832104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Build list of (tile_id, gaussian_idx) pairs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g in range(n_gaussians):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tx in range(min_tx[g], max_tx[g]):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ty in range(min_ty[g], max_ty[g]):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tile_id = ty * n_tiles_x + tx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tile_gaussian_pairs.append((tile_id, g))</a:t>
            </a:r>
            <a:endParaRPr lang="en-US" sz="9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20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4: Lexicographic Sort (Tile × Depth)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</a:rPr>
              <a:t>To enable efficient per-tile processing, we sort all pairs by (tile_id, depth) — a lexicographic sort: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03920" cy="2148840"/>
          </a:xfrm>
          <a:prstGeom prst="rect">
            <a:avLst/>
          </a:prstGeom>
          <a:solidFill>
            <a:srgbClr val="050A14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07592"/>
            <a:ext cx="8321040" cy="20025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tile_ids   = torch.tensor([pair[0] for pair in tile_gaussian_pairs])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gauss_idxs = torch.tensor([pair[1] for pair in tile_gaussian_pairs])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Create combined sort key: tile_id * large_offset + depth_rank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This sorts primarily by tile, secondarily by depth within tile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sort_keys = tile_ids * 10_000 + depth_rank[gauss_idxs]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order = torch.argsort(sort_keys)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tile_ids   = tile_ids[order]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gauss_idxs = gauss_idxs[order]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Now: all Gaussians for tile 0 come first (front→back),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     then tile 1 (front→back), etc.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274320" y="349300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8D6E8"/>
                </a:solidFill>
              </a:rPr>
              <a:t>This mirrors the Radix Sort used in the original CUDA paper: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274320" y="3913632"/>
            <a:ext cx="5029200" cy="201168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393192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Tile 0, depth 1.2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274320" y="4142232"/>
            <a:ext cx="5029200" cy="201168"/>
          </a:xfrm>
          <a:prstGeom prst="rect">
            <a:avLst/>
          </a:prstGeom>
          <a:solidFill>
            <a:srgbClr val="00D4FF">
              <a:alpha val="25000"/>
            </a:srgbClr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65760" y="416052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Tile 0, depth 3.5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274320" y="4370832"/>
            <a:ext cx="5029200" cy="201168"/>
          </a:xfrm>
          <a:prstGeom prst="rect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65760" y="438912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Tile 1, depth 0.8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274320" y="4599432"/>
            <a:ext cx="5029200" cy="201168"/>
          </a:xfrm>
          <a:prstGeom prst="rect">
            <a:avLst/>
          </a:prstGeom>
          <a:solidFill>
            <a:srgbClr val="A855F7">
              <a:alpha val="25000"/>
            </a:srgbClr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65760" y="461772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Tile 1, depth 2.1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74320" y="4828032"/>
            <a:ext cx="5029200" cy="201168"/>
          </a:xfrm>
          <a:prstGeom prst="rect">
            <a:avLst/>
          </a:prstGeom>
          <a:solidFill>
            <a:srgbClr val="7B2FBE">
              <a:alpha val="25000"/>
            </a:srgbClr>
          </a:solidFill>
          <a:ln w="12700">
            <a:solidFill>
              <a:srgbClr val="7B2FBE">
                <a:alpha val="5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846320"/>
            <a:ext cx="4846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Tile 2, depth 4.0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5486400" y="3840480"/>
            <a:ext cx="338328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7A8FA6"/>
                </a:solidFill>
              </a:rPr>
              <a:t>Grouped by tile,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7A8FA6"/>
                </a:solidFill>
              </a:rPr>
              <a:t>front→back within each tile →</a:t>
            </a:r>
            <a:endParaRPr lang="en-US" sz="1150" dirty="0"/>
          </a:p>
          <a:p>
            <a:pPr indent="0" marL="0">
              <a:buNone/>
            </a:pPr>
            <a:r>
              <a:rPr lang="en-US" sz="1150" i="1" dirty="0">
                <a:solidFill>
                  <a:srgbClr val="7A8FA6"/>
                </a:solidFill>
              </a:rPr>
              <a:t>ready for parallel pixel rendering</a:t>
            </a:r>
            <a:endParaRPr lang="en-US" sz="11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1097280"/>
            <a:ext cx="3657600" cy="3657600"/>
          </a:xfrm>
          <a:prstGeom prst="ellipse">
            <a:avLst/>
          </a:prstGeom>
          <a:solidFill>
            <a:srgbClr val="7B2FBE">
              <a:alpha val="12000"/>
            </a:srgbClr>
          </a:solidFill>
          <a:ln w="12700">
            <a:solidFill>
              <a:srgbClr val="7B2FBE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05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40480" y="82296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💻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Walkthrough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743200" y="3474720"/>
            <a:ext cx="3657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22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Code Structure: ~300 Lines Total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</a:rPr>
              <a:t>The entire implementation is surprisingly compact: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80160"/>
            <a:ext cx="8503920" cy="1051560"/>
          </a:xfrm>
          <a:prstGeom prst="rect">
            <a:avLst/>
          </a:prstGeom>
          <a:solidFill>
            <a:srgbClr val="0F2040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80160"/>
            <a:ext cx="54864" cy="105156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137160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Helper Functions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7772400" y="137160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~100 lines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57200" y="173736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evaluate_sh, project_points,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build_covariance, quat_to_rotmat,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scale_intrinsics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274320" y="2468880"/>
            <a:ext cx="8503920" cy="1051560"/>
          </a:xfrm>
          <a:prstGeom prst="rect">
            <a:avLst/>
          </a:prstGeom>
          <a:solidFill>
            <a:srgbClr val="0F2040"/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274320" y="2468880"/>
            <a:ext cx="54864" cy="10515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7200" y="256032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Render / Splat Function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7772400" y="256032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~100 lines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457200" y="292608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Culling, 2D covariance, sorting,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tile indexing, pixel loop,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alpha compositing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274320" y="3657600"/>
            <a:ext cx="8503920" cy="1051560"/>
          </a:xfrm>
          <a:prstGeom prst="rect">
            <a:avLst/>
          </a:prstGeom>
          <a:solidFill>
            <a:srgbClr val="0F2040"/>
          </a:solidFill>
          <a:ln w="12700">
            <a:solidFill>
              <a:srgbClr val="7B2FBE">
                <a:alpha val="5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274320" y="3657600"/>
            <a:ext cx="54864" cy="105156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3749040"/>
            <a:ext cx="45720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Execution Script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7772400" y="3749040"/>
            <a:ext cx="1097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7B2FBE"/>
                </a:solidFill>
              </a:rPr>
              <a:t>~100 lines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11480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Load pretrained params,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camera orbit path,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7A8FA6"/>
                </a:solidFill>
              </a:rPr>
              <a:t>render loop → frames → GIF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475488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F59E0B"/>
                </a:solidFill>
              </a:rPr>
              <a:t>"Stripped of complex engineering for speed, the core rendering mechanism of 3DGS relies entirely on standard linear algebra."</a:t>
            </a:r>
            <a:endParaRPr lang="en-US" sz="11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23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Helper: evaluate_sh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</a:rPr>
              <a:t>Converts learned SH coefficients → actual RGB color given the current viewing direction: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03920" cy="2286000"/>
          </a:xfrm>
          <a:prstGeom prst="rect">
            <a:avLst/>
          </a:prstGeom>
          <a:solidFill>
            <a:srgbClr val="050A14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07592"/>
            <a:ext cx="8321040" cy="21396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SH_C0 = 0.28209479177387814   # 1/(2√π) — constant term factor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evaluate_sh(deg, sh, dirs):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 = SH_C0 * sh[..., 0]                  # base color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deg &gt; 0: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x, y, z = dirs[...,0], dirs[...,1], dirs[...,2]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+= -SH_C1*y*sh[...,1] + SH_C1*z*sh[...,2] - SH_C1*x*sh[...,3]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deg &gt; 1: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xx, yy, zz = x*x, y*y, z*z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xy, yz, xz = x*y, y*z, x*z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 += (SH_C2[0]*xy*sh[...,4] + SH_C2[1]*yz*sh[...,5]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+ SH_C2[2]*(2*zz-xx-yy)*sh[...,6] + ...)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torch.clamp(result + 0.5, min=0)    # shift &amp; clamp → [0,1]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3657600"/>
            <a:ext cx="411480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7A8FA6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3657600"/>
            <a:ext cx="54864" cy="658368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FA6"/>
                </a:solidFill>
              </a:rPr>
              <a:t>Degree 0 only: 1 coeff per channel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40050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3 numbers (RGB) → flat, view-independent color. Same from any angle.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26280" y="3657600"/>
            <a:ext cx="411480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3657600"/>
            <a:ext cx="54864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37490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Degree 3: 16 coeffs per channel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400507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48 numbers per Gaussian. Captures subtle highlight shifts as camera moves.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74320" y="44348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59E0B"/>
                </a:solidFill>
              </a:rPr>
              <a:t>Direction = normalize(camera_pos - gaussian_mean) — recalculated every frame.</a:t>
            </a:r>
            <a:endParaRPr lang="en-US" sz="11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24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Helper: build_covariance &amp; quat_to_rotmat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03920" cy="1600200"/>
          </a:xfrm>
          <a:prstGeom prst="rect">
            <a:avLst/>
          </a:prstGeom>
          <a:solidFill>
            <a:srgbClr val="050A14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50392"/>
            <a:ext cx="8321040" cy="14538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quat_to_rotmat(q):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"""Unit quaternion (w,x,y,z) → 3x3 rotation matrix"""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w, x, y, z = q[...,0], q[...,1], q[...,2], q[...,3]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torch.stack([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1-2*(y²+z²),  2*(xy-wz),   2*(xz+wy),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2*(xy+wz),    1-2*(x²+z²), 2*(yz-wx),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2*(xz-wy),    2*(yz+wx),   1-2*(x²+y²)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], dim=-1).reshape(*q.shape[:-1], 3, 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2468880"/>
            <a:ext cx="8503920" cy="1371600"/>
          </a:xfrm>
          <a:prstGeom prst="rect">
            <a:avLst/>
          </a:prstGeom>
          <a:solidFill>
            <a:srgbClr val="050A14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2542032"/>
            <a:ext cx="8321040" cy="12252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build_covariance(scales, quats):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"""scales ∈ ℝ^(N,3), quats ∈ ℝ^(N,4) → covariance ∈ ℝ^(N,3,3)"""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quat_to_rotmat(quats)                 # (N, 3, 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 = torch.diag_embed(torch.exp(scales))   # (N, 3, 3) diagonal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 = R @ S                                  # (N, 3, 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M @ M.transpose(-1, -2)            # Σ = M Mᵀ — always PSD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274320" y="39776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F59E0B"/>
                </a:solidFill>
              </a:rPr>
              <a:t>⚡ Compute only once after training — camera doesn't change Σ, only the viewing direction for SH changes.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74320" y="4480560"/>
            <a:ext cx="8503920" cy="594360"/>
          </a:xfrm>
          <a:prstGeom prst="rect">
            <a:avLst/>
          </a:prstGeom>
          <a:solidFill>
            <a:srgbClr val="0F2040"/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74320" y="4480560"/>
            <a:ext cx="54864" cy="59436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11480" y="457200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M @ Mᵀ trick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11480" y="4828032"/>
            <a:ext cx="832104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Any matrix M multiplied by its transpose gives a symmetric PSD matrix — a fundamental result from linear algebra.</a:t>
            </a:r>
            <a:endParaRPr lang="en-US" sz="11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25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Function: Culling &amp; 2D Covariance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03920" cy="2971800"/>
          </a:xfrm>
          <a:prstGeom prst="rect">
            <a:avLst/>
          </a:prstGeom>
          <a:solidFill>
            <a:srgbClr val="050A14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50392"/>
            <a:ext cx="8321040" cy="282549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render(means_3d, covs_3d, sh_coeffs, opacities, K, viewmat, W, H):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── 1. Project means ──────────────────────────────────────────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means_2d, depths = project_points(means_3d, viewmat, K)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── 2. Cull off-screen Gaussians 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mask = (depths &gt; 0.01) &amp; in_image(means_2d, W, H)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means_2d, depths = means_2d[mask], depths[mask]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covs_3d, opacities = covs_3d[mask], opacities[mask]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sh_coeffs = sh_coeffs[mask]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── 3. View-dependent colors 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view_dir = normalize(means_3d[mask] - camera_pos)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colors = evaluate_sh(sh_degree, sh_coeffs, view_dir)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── 4. 2D covariance via Jacobian 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J = compute_jacobian(means_2d, depths, K)       # (N, 2, 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 = viewmat[:3, :3]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covs_2d = J @ R @ covs_3d @ R.T @ J.T          # (N, 2, 2)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covs_2d[:, 0, 0] += 0.3                         # low-pass filter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3886200"/>
            <a:ext cx="850392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3886200"/>
            <a:ext cx="54864" cy="658368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39776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59E0B"/>
                </a:solidFill>
              </a:rPr>
              <a:t>Low-pass filter (+0.3)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4233672"/>
            <a:ext cx="8321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Adding a small value to Σ'[0,0] and Σ'[1,1] prevents paper-thin Gaussians that create aliasing artifacts.</a:t>
            </a:r>
            <a:endParaRPr lang="en-US" sz="11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26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Render Function: Pixel Accumulation</a:t>
            </a:r>
            <a:endParaRPr lang="en-US" sz="2200" dirty="0"/>
          </a:p>
        </p:txBody>
      </p:sp>
      <p:sp>
        <p:nvSpPr>
          <p:cNvPr id="6" name="Shape 4"/>
          <p:cNvSpPr/>
          <p:nvPr/>
        </p:nvSpPr>
        <p:spPr>
          <a:xfrm>
            <a:off x="274320" y="777240"/>
            <a:ext cx="8503920" cy="3931920"/>
          </a:xfrm>
          <a:prstGeom prst="rect">
            <a:avLst/>
          </a:prstGeom>
          <a:solidFill>
            <a:srgbClr val="050A14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850392"/>
            <a:ext cx="8321040" cy="37856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── 5. Sort, tile, index ─────────────────────────────────────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order = argsort(depths)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tile_ids, gauss_idxs = build_tile_index(means_2d[order], covs_2d[order], W, H)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# ── 6. Per-tile pixel loop ────────────────────────────────────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image = torch.zeros(H, W, 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for tile_y, tile_x in product(range(n_tiles_y), range(n_tiles_x)):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tile_mask = (tile_ids == tile_y * n_tiles_x + tile_x)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g_in_tile = gauss_idxs[tile_mask]   # Gaussians touching this tile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py in range(tile_y*16, min((tile_y+1)*16, H)):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for px in range(tile_x*16, min((tile_x+1)*16, W)):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T, C_acc = 1.0, zeros(3)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for g in g_in_tile:          # front-to-back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d  = [px,py] - means_2d[g]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pw = -0.5 * d @ inv(covs_2d[g]) @ d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if pw &lt; -4: continue      # outside 2-sigma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alpha = min(0.99, opacities[g] * exp(pw))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C_acc += T * alpha * colors[g]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T *= (1 - alpha)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    if T &lt; 1e-4: break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   image[py, px] = C_acc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image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74320" y="4800600"/>
            <a:ext cx="8503920" cy="566928"/>
          </a:xfrm>
          <a:prstGeom prst="rect">
            <a:avLst/>
          </a:prstGeom>
          <a:solidFill>
            <a:srgbClr val="0F2040"/>
          </a:solidFill>
          <a:ln w="12700">
            <a:solidFill>
              <a:srgbClr val="7A8FA6">
                <a:alpha val="5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74320" y="4800600"/>
            <a:ext cx="54864" cy="566928"/>
          </a:xfrm>
          <a:prstGeom prst="rect">
            <a:avLst/>
          </a:prstGeom>
          <a:solidFill>
            <a:srgbClr val="7A8FA6"/>
          </a:solidFill>
          <a:ln w="12700">
            <a:solidFill>
              <a:srgbClr val="7A8FA6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11480" y="4892040"/>
            <a:ext cx="8321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A8FA6"/>
                </a:solidFill>
              </a:rPr>
              <a:t>Skip pw &lt; -4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11480" y="5148072"/>
            <a:ext cx="83210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Pixels more than ~2σ from Gaussian center contribute essentially nothing — skip them for speed.</a:t>
            </a:r>
            <a:endParaRPr lang="en-US" sz="11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27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Execution Script: Camera Orbit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</a:rPr>
              <a:t>The main script loads pretrained Gaussian parameters and renders a 360° orbit: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8503920" cy="2834640"/>
          </a:xfrm>
          <a:prstGeom prst="rect">
            <a:avLst/>
          </a:prstGeom>
          <a:solidFill>
            <a:srgbClr val="050A14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65760" y="1307592"/>
            <a:ext cx="8321040" cy="268833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pre-trained 3DGS checkpoint (Mip-NeRF 360 indoor scene)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= load_ply("scene.ply")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means_3d   = data["means"]      # (N, 3)   — 3D positions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sh_coeffs  = data["sh"]         # (N, 3, 16) — color coefficients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scales     = data["scales"]     # (N, 3)   — log scales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quats      = data["quats"]      # (N, 4)   — rotation quaternions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opacities  = data["opacities"]  # (N, 1)   — sigmoid'd opacity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Pre-compute covariances ONCE (camera-independent)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covs_3d = build_covariance(scales, quats)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360° camera orbit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frames = []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for angle in linspace(0, 2*pi, n_frames):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viewmat = orbit_camera(angle, elevation=20, radius=3.0)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img = render(means_3d, covs_3d, sh_coeffs, opacities, K, viewmat, W, H)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frames.append(img)</a:t>
            </a:r>
            <a:endParaRPr lang="en-US" sz="950" dirty="0"/>
          </a:p>
          <a:p>
            <a:pPr indent="0" marL="0">
              <a:buNone/>
            </a:pP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A8E6C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save_gif(frames, "orbit.gif")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274320" y="4206240"/>
            <a:ext cx="411480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A855F7">
                <a:alpha val="5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74320" y="4206240"/>
            <a:ext cx="54864" cy="658368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11480" y="4297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A855F7"/>
                </a:solidFill>
              </a:rPr>
              <a:t>Mip-NeRF 360 scenes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1480" y="45537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Pre-trained checkpoints from Google Research provide photorealistic indoor scenes as test data.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4526280" y="4206240"/>
            <a:ext cx="411480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4526280" y="4206240"/>
            <a:ext cx="54864" cy="658368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429768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D4FF"/>
                </a:solidFill>
              </a:rPr>
              <a:t>Pre-compute covs_3d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663440" y="4553712"/>
            <a:ext cx="3931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8D6E8"/>
                </a:solidFill>
              </a:rPr>
              <a:t>Covariance matrices are camera-independent — compute once for massive speedup across frames.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2743200" y="1097280"/>
            <a:ext cx="3657600" cy="3657600"/>
          </a:xfrm>
          <a:prstGeom prst="ellipse">
            <a:avLst/>
          </a:prstGeom>
          <a:solidFill>
            <a:srgbClr val="7B2FBE">
              <a:alpha val="12000"/>
            </a:srgbClr>
          </a:solidFill>
          <a:ln w="12700">
            <a:solidFill>
              <a:srgbClr val="7B2FBE">
                <a:alpha val="20000"/>
              </a:srgbClr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274320"/>
            <a:ext cx="914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06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3840480" y="822960"/>
            <a:ext cx="14630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6000" dirty="0">
                <a:solidFill>
                  <a:srgbClr val="000000"/>
                </a:solidFill>
              </a:rPr>
              <a:t>🏆</a:t>
            </a:r>
            <a:endParaRPr lang="en-US" sz="6000" dirty="0"/>
          </a:p>
        </p:txBody>
      </p:sp>
      <p:sp>
        <p:nvSpPr>
          <p:cNvPr id="6" name="Text 4"/>
          <p:cNvSpPr/>
          <p:nvPr/>
        </p:nvSpPr>
        <p:spPr>
          <a:xfrm>
            <a:off x="457200" y="219456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Key Learnings</a:t>
            </a:r>
            <a:endParaRPr lang="en-US" sz="3800" dirty="0"/>
          </a:p>
        </p:txBody>
      </p:sp>
      <p:sp>
        <p:nvSpPr>
          <p:cNvPr id="7" name="Shape 5"/>
          <p:cNvSpPr/>
          <p:nvPr/>
        </p:nvSpPr>
        <p:spPr>
          <a:xfrm>
            <a:off x="2743200" y="3474720"/>
            <a:ext cx="3657600" cy="36576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A162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514350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50D1A"/>
          </a:solidFill>
          <a:ln w="12700">
            <a:solidFill>
              <a:srgbClr val="050D1A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046720" y="109728"/>
            <a:ext cx="914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A8FA6"/>
                </a:solidFill>
              </a:rPr>
              <a:t>29 / 30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91440"/>
            <a:ext cx="74980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Pure PyTorch vs Original CUDA: Quality Comparison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27432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C8D6E8"/>
                </a:solidFill>
              </a:rPr>
              <a:t>The key finding: visual quality is identical — only speed differs.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74320" y="1234440"/>
            <a:ext cx="4114800" cy="3474720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>
                <a:alpha val="50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74320" y="1234440"/>
            <a:ext cx="4114800" cy="457200"/>
          </a:xfrm>
          <a:prstGeom prst="rect">
            <a:avLst/>
          </a:prstGeom>
          <a:solidFill>
            <a:srgbClr val="F59E0B">
              <a:alpha val="25000"/>
            </a:srgbClr>
          </a:solidFill>
          <a:ln w="12700">
            <a:solidFill>
              <a:srgbClr val="F59E0B">
                <a:alpha val="3000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5760" y="12618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⚡ Original CUDA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365760" y="17830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8D6E8"/>
                </a:solidFill>
              </a:rPr>
              <a:t>• C++/CUDA kernels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8D6E8"/>
                </a:solidFill>
              </a:rPr>
              <a:t>• 100+ fps real-time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8D6E8"/>
                </a:solidFill>
              </a:rPr>
              <a:t>• Complex build system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8D6E8"/>
                </a:solidFill>
              </a:rPr>
              <a:t>• GPU-specific code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8D6E8"/>
                </a:solidFill>
              </a:rPr>
              <a:t>• Hard to study/modify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4663440" y="1234440"/>
            <a:ext cx="4114800" cy="3474720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>
                <a:alpha val="50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663440" y="1234440"/>
            <a:ext cx="4114800" cy="457200"/>
          </a:xfrm>
          <a:prstGeom prst="rect">
            <a:avLst/>
          </a:prstGeom>
          <a:solidFill>
            <a:srgbClr val="10B981">
              <a:alpha val="25000"/>
            </a:srgbClr>
          </a:solidFill>
          <a:ln w="12700">
            <a:solidFill>
              <a:srgbClr val="10B981">
                <a:alpha val="3000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4880" y="1261872"/>
            <a:ext cx="3840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🐍 Pure PyTorch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4754880" y="1783080"/>
            <a:ext cx="384048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8D6E8"/>
                </a:solidFill>
              </a:rPr>
              <a:t>• ~300 lines Python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8D6E8"/>
                </a:solidFill>
              </a:rPr>
              <a:t>• Seconds per frame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8D6E8"/>
                </a:solidFill>
              </a:rPr>
              <a:t>• pip install torch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8D6E8"/>
                </a:solidFill>
              </a:rPr>
              <a:t>• Readable &amp; hackable</a:t>
            </a:r>
            <a:endParaRPr lang="en-US" sz="125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250" dirty="0">
                <a:solidFill>
                  <a:srgbClr val="C8D6E8"/>
                </a:solidFill>
              </a:rPr>
              <a:t>• Same PSNR score ✓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914400" y="4206240"/>
            <a:ext cx="7132320" cy="658368"/>
          </a:xfrm>
          <a:prstGeom prst="rect">
            <a:avLst/>
          </a:prstGeom>
          <a:solidFill>
            <a:srgbClr val="0F2040"/>
          </a:solidFill>
          <a:ln w="12700">
            <a:solidFill>
              <a:srgbClr val="00D4FF">
                <a:alpha val="5000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14400" y="4206240"/>
            <a:ext cx="71323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D4FF"/>
                </a:solidFill>
              </a:rPr>
              <a:t>✅  Identical PSNR  |  Same visual quality  |  Only speed trade-off</a:t>
            </a:r>
            <a:endParaRPr lang="en-US" sz="14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50D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274320" y="13716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Learnings &amp; Takeaways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182880" y="822960"/>
            <a:ext cx="4206240" cy="1234440"/>
          </a:xfrm>
          <a:prstGeom prst="rect">
            <a:avLst/>
          </a:prstGeom>
          <a:solidFill>
            <a:srgbClr val="0F2040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82880" y="822960"/>
            <a:ext cx="54864" cy="1234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🧱 CUDA is optional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2801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8"/>
                </a:solidFill>
              </a:rPr>
              <a:t>The core 3DGS algorithm is pure linear algebra — PyTorch handles it with zero C++.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182880" y="2240280"/>
            <a:ext cx="4206240" cy="1234440"/>
          </a:xfrm>
          <a:prstGeom prst="rect">
            <a:avLst/>
          </a:prstGeom>
          <a:solidFill>
            <a:srgbClr val="0F2040"/>
          </a:solidFill>
          <a:ln w="12700">
            <a:solidFill>
              <a:srgbClr val="A855F7">
                <a:alpha val="40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82880" y="2240280"/>
            <a:ext cx="54864" cy="1234440"/>
          </a:xfrm>
          <a:prstGeom prst="rect">
            <a:avLst/>
          </a:prstGeom>
          <a:solidFill>
            <a:srgbClr val="A855F7"/>
          </a:solidFill>
          <a:ln w="12700">
            <a:solidFill>
              <a:srgbClr val="A855F7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2331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A855F7"/>
                </a:solidFill>
              </a:rPr>
              <a:t>📐 Math is simpler than it looks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20040" y="26974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8"/>
                </a:solidFill>
              </a:rPr>
              <a:t>Perspective projection + Jacobian + alpha compositing = complete renderer.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182880" y="3657600"/>
            <a:ext cx="4206240" cy="1234440"/>
          </a:xfrm>
          <a:prstGeom prst="rect">
            <a:avLst/>
          </a:prstGeom>
          <a:solidFill>
            <a:srgbClr val="0F2040"/>
          </a:solidFill>
          <a:ln w="12700">
            <a:solidFill>
              <a:srgbClr val="F59E0B">
                <a:alpha val="40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82880" y="3657600"/>
            <a:ext cx="54864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20040" y="3749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59E0B"/>
                </a:solidFill>
              </a:rPr>
              <a:t>⚡ Pre-compute wisely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0040" y="41148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8"/>
                </a:solidFill>
              </a:rPr>
              <a:t>Covariance matrices: once. SH colors: every frame. Smart batching matters.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822960"/>
            <a:ext cx="4206240" cy="1234440"/>
          </a:xfrm>
          <a:prstGeom prst="rect">
            <a:avLst/>
          </a:prstGeom>
          <a:solidFill>
            <a:srgbClr val="0F2040"/>
          </a:solidFill>
          <a:ln w="12700">
            <a:solidFill>
              <a:srgbClr val="10B981">
                <a:alpha val="4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663440" y="822960"/>
            <a:ext cx="54864" cy="1234440"/>
          </a:xfrm>
          <a:prstGeom prst="rect">
            <a:avLst/>
          </a:prstGeom>
          <a:solidFill>
            <a:srgbClr val="10B981"/>
          </a:solidFill>
          <a:ln w="12700">
            <a:solidFill>
              <a:srgbClr val="10B98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00600" y="91440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</a:rPr>
              <a:t>🔄 Depth ordering is critical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800600" y="128016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8"/>
                </a:solidFill>
              </a:rPr>
              <a:t>Front-to-back sort is mandatory for correct alpha compositing.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663440" y="2240280"/>
            <a:ext cx="4206240" cy="1234440"/>
          </a:xfrm>
          <a:prstGeom prst="rect">
            <a:avLst/>
          </a:prstGeom>
          <a:solidFill>
            <a:srgbClr val="0F2040"/>
          </a:solidFill>
          <a:ln w="12700">
            <a:solidFill>
              <a:srgbClr val="7B2FBE">
                <a:alpha val="40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663440" y="2240280"/>
            <a:ext cx="54864" cy="1234440"/>
          </a:xfrm>
          <a:prstGeom prst="rect">
            <a:avLst/>
          </a:prstGeom>
          <a:solidFill>
            <a:srgbClr val="7B2FBE"/>
          </a:solidFill>
          <a:ln w="12700">
            <a:solidFill>
              <a:srgbClr val="7B2FBE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800600" y="233172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BE"/>
                </a:solidFill>
              </a:rPr>
              <a:t>🗂️ Tiling enables parallelism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800600" y="269748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8"/>
                </a:solidFill>
              </a:rPr>
              <a:t>16×16 tiles allow GPU-parallel pixel processing (trivially vectorized).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663440" y="3657600"/>
            <a:ext cx="4206240" cy="1234440"/>
          </a:xfrm>
          <a:prstGeom prst="rect">
            <a:avLst/>
          </a:prstGeom>
          <a:solidFill>
            <a:srgbClr val="0F2040"/>
          </a:solidFill>
          <a:ln w="12700">
            <a:solidFill>
              <a:srgbClr val="00D4FF">
                <a:alpha val="40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663440" y="3657600"/>
            <a:ext cx="54864" cy="1234440"/>
          </a:xfrm>
          <a:prstGeom prst="rect">
            <a:avLst/>
          </a:prstGeom>
          <a:solidFill>
            <a:srgbClr val="00D4FF"/>
          </a:solidFill>
          <a:ln w="12700">
            <a:solidFill>
              <a:srgbClr val="00D4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800600" y="3749040"/>
            <a:ext cx="3931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D4FF"/>
                </a:solidFill>
              </a:rPr>
              <a:t>🎯 Demystified = improvable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4800600" y="4114800"/>
            <a:ext cx="39319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8D6E8"/>
                </a:solidFill>
              </a:rPr>
              <a:t>Once you understand the 100 lines, extending 3DGS becomes accessible.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3D Gaussian Splatting in 100 Lines</dc:title>
  <dc:subject>PptxGenJS Presentation</dc:subject>
  <dc:creator>GP / ORamaVR</dc:creator>
  <cp:lastModifiedBy>GP / ORamaVR</cp:lastModifiedBy>
  <cp:revision>1</cp:revision>
  <dcterms:created xsi:type="dcterms:W3CDTF">2026-03-06T20:27:45Z</dcterms:created>
  <dcterms:modified xsi:type="dcterms:W3CDTF">2026-03-06T20:27:45Z</dcterms:modified>
</cp:coreProperties>
</file>